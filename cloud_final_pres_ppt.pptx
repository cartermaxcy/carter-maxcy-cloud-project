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solidFill>
          <a:srgbClr val="003462"/>
        </a:solid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47162"/>
            <a:ext cx="21971003" cy="636979"/>
          </a:xfrm>
          <a:prstGeom prst="rect">
            <a:avLst/>
          </a:prstGeom>
        </p:spPr>
        <p:txBody>
          <a:bodyPr lIns="45719" tIns="45719" rIns="45719" bIns="45719"/>
          <a:lstStyle>
            <a:lvl1pPr marL="0" indent="0" defTabSz="825500">
              <a:lnSpc>
                <a:spcPct val="100000"/>
              </a:lnSpc>
              <a:spcBef>
                <a:spcPts val="0"/>
              </a:spcBef>
              <a:buSzTx/>
              <a:buNone/>
              <a:defRPr b="1" sz="3600">
                <a:solidFill>
                  <a:srgbClr val="FFFFFF"/>
                </a:solidFill>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solidFill>
                  <a:srgbClr val="FFFFFF"/>
                </a:solidFill>
              </a:defRPr>
            </a:lvl1pPr>
          </a:lstStyle>
          <a:p>
            <a:pPr/>
            <a:r>
              <a:t>Presentation Title</a:t>
            </a:r>
          </a:p>
        </p:txBody>
      </p:sp>
      <p:sp>
        <p:nvSpPr>
          <p:cNvPr id="13" name="Body Level One…"/>
          <p:cNvSpPr txBox="1"/>
          <p:nvPr>
            <p:ph type="body" sz="quarter" idx="1" hasCustomPrompt="1"/>
          </p:nvPr>
        </p:nvSpPr>
        <p:spPr>
          <a:xfrm>
            <a:off x="1201342" y="7210490"/>
            <a:ext cx="21971001" cy="1905001"/>
          </a:xfrm>
          <a:prstGeom prst="rect">
            <a:avLst/>
          </a:prstGeom>
        </p:spPr>
        <p:txBody>
          <a:bodyPr/>
          <a:lstStyle>
            <a:lvl1pPr marL="0" indent="0" defTabSz="825500">
              <a:lnSpc>
                <a:spcPct val="100000"/>
              </a:lnSpc>
              <a:spcBef>
                <a:spcPts val="0"/>
              </a:spcBef>
              <a:buSzTx/>
              <a:buNone/>
              <a:defRPr b="1" sz="5500">
                <a:solidFill>
                  <a:schemeClr val="accent1"/>
                </a:solidFill>
              </a:defRPr>
            </a:lvl1pPr>
            <a:lvl2pPr marL="0" indent="457200" defTabSz="825500">
              <a:lnSpc>
                <a:spcPct val="100000"/>
              </a:lnSpc>
              <a:spcBef>
                <a:spcPts val="0"/>
              </a:spcBef>
              <a:buSzTx/>
              <a:buNone/>
              <a:defRPr b="1" sz="5500">
                <a:solidFill>
                  <a:schemeClr val="accent1"/>
                </a:solidFill>
              </a:defRPr>
            </a:lvl2pPr>
            <a:lvl3pPr marL="0" indent="914400" defTabSz="825500">
              <a:lnSpc>
                <a:spcPct val="100000"/>
              </a:lnSpc>
              <a:spcBef>
                <a:spcPts val="0"/>
              </a:spcBef>
              <a:buSzTx/>
              <a:buNone/>
              <a:defRPr b="1" sz="5500">
                <a:solidFill>
                  <a:schemeClr val="accent1"/>
                </a:solidFill>
              </a:defRPr>
            </a:lvl3pPr>
            <a:lvl4pPr marL="0" indent="1371600" defTabSz="825500">
              <a:lnSpc>
                <a:spcPct val="100000"/>
              </a:lnSpc>
              <a:spcBef>
                <a:spcPts val="0"/>
              </a:spcBef>
              <a:buSzTx/>
              <a:buNone/>
              <a:defRPr b="1" sz="5500">
                <a:solidFill>
                  <a:schemeClr val="accent1"/>
                </a:solidFill>
              </a:defRPr>
            </a:lvl4pPr>
            <a:lvl5pPr marL="0" indent="1828800" defTabSz="825500">
              <a:lnSpc>
                <a:spcPct val="100000"/>
              </a:lnSpc>
              <a:spcBef>
                <a:spcPts val="0"/>
              </a:spcBef>
              <a:buSzTx/>
              <a:buNone/>
              <a:defRPr b="1" sz="5500">
                <a:solidFill>
                  <a:schemeClr val="accent1"/>
                </a:solidFill>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740627569_2880x1920.jpg"/>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solidFill>
                  <a:srgbClr val="FFFFFF"/>
                </a:solidFill>
              </a:defRPr>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solidFill>
                  <a:srgbClr val="FFFFFF"/>
                </a:solidFill>
              </a:defRPr>
            </a:lvl1pPr>
            <a:lvl2pPr marL="0" indent="457200" defTabSz="825500">
              <a:lnSpc>
                <a:spcPct val="100000"/>
              </a:lnSpc>
              <a:spcBef>
                <a:spcPts val="0"/>
              </a:spcBef>
              <a:buSzTx/>
              <a:buNone/>
              <a:defRPr b="1" sz="5500">
                <a:solidFill>
                  <a:srgbClr val="FFFFFF"/>
                </a:solidFill>
              </a:defRPr>
            </a:lvl2pPr>
            <a:lvl3pPr marL="0" indent="914400" defTabSz="825500">
              <a:lnSpc>
                <a:spcPct val="100000"/>
              </a:lnSpc>
              <a:spcBef>
                <a:spcPts val="0"/>
              </a:spcBef>
              <a:buSzTx/>
              <a:buNone/>
              <a:defRPr b="1" sz="5500">
                <a:solidFill>
                  <a:srgbClr val="FFFFFF"/>
                </a:solidFill>
              </a:defRPr>
            </a:lvl3pPr>
            <a:lvl4pPr marL="0" indent="1371600" defTabSz="825500">
              <a:lnSpc>
                <a:spcPct val="100000"/>
              </a:lnSpc>
              <a:spcBef>
                <a:spcPts val="0"/>
              </a:spcBef>
              <a:buSzTx/>
              <a:buNone/>
              <a:defRPr b="1" sz="5500">
                <a:solidFill>
                  <a:srgbClr val="FFFFFF"/>
                </a:solidFill>
              </a:defRPr>
            </a:lvl4pPr>
            <a:lvl5pPr marL="0" indent="1828800" defTabSz="825500">
              <a:lnSpc>
                <a:spcPct val="100000"/>
              </a:lnSpc>
              <a:spcBef>
                <a:spcPts val="0"/>
              </a:spcBef>
              <a:buSzTx/>
              <a:buNone/>
              <a:defRPr b="1" sz="5500">
                <a:solidFill>
                  <a:srgbClr val="FFFFFF"/>
                </a:solidFill>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136959463_1989x1321.jpg"/>
          <p:cNvSpPr/>
          <p:nvPr>
            <p:ph type="pic" idx="21"/>
          </p:nvPr>
        </p:nvSpPr>
        <p:spPr>
          <a:xfrm>
            <a:off x="9226574" y="1270000"/>
            <a:ext cx="16840152" cy="11184435"/>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17931575_1991x1322.jpg"/>
          <p:cNvSpPr/>
          <p:nvPr>
            <p:ph type="pic" idx="22"/>
          </p:nvPr>
        </p:nvSpPr>
        <p:spPr>
          <a:xfrm>
            <a:off x="8432800" y="1263848"/>
            <a:ext cx="16850011" cy="11188205"/>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solidFill>
          <a:srgbClr val="003462"/>
        </a:solidFill>
      </p:bgPr>
    </p:bg>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solidFill>
                  <a:srgbClr val="FFFFFF"/>
                </a:solidFill>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solidFill>
                  <a:schemeClr val="accent1">
                    <a:hueOff val="114395"/>
                    <a:lumOff val="-24975"/>
                  </a:schemeClr>
                </a:solidFill>
              </a:defRPr>
            </a:lvl1pPr>
            <a:lvl2pPr marL="0" indent="457200" algn="ctr">
              <a:lnSpc>
                <a:spcPct val="80000"/>
              </a:lnSpc>
              <a:spcBef>
                <a:spcPts val="0"/>
              </a:spcBef>
              <a:buSzTx/>
              <a:buNone/>
              <a:defRPr b="1" spc="-250" sz="25000">
                <a:solidFill>
                  <a:schemeClr val="accent1">
                    <a:hueOff val="114395"/>
                    <a:lumOff val="-24975"/>
                  </a:schemeClr>
                </a:solidFill>
              </a:defRPr>
            </a:lvl2pPr>
            <a:lvl3pPr marL="0" indent="914400" algn="ctr">
              <a:lnSpc>
                <a:spcPct val="80000"/>
              </a:lnSpc>
              <a:spcBef>
                <a:spcPts val="0"/>
              </a:spcBef>
              <a:buSzTx/>
              <a:buNone/>
              <a:defRPr b="1" spc="-250" sz="25000">
                <a:solidFill>
                  <a:schemeClr val="accent1">
                    <a:hueOff val="114395"/>
                    <a:lumOff val="-24975"/>
                  </a:schemeClr>
                </a:solidFill>
              </a:defRPr>
            </a:lvl3pPr>
            <a:lvl4pPr marL="0" indent="1371600" algn="ctr">
              <a:lnSpc>
                <a:spcPct val="80000"/>
              </a:lnSpc>
              <a:spcBef>
                <a:spcPts val="0"/>
              </a:spcBef>
              <a:buSzTx/>
              <a:buNone/>
              <a:defRPr b="1" spc="-250" sz="25000">
                <a:solidFill>
                  <a:schemeClr val="accent1">
                    <a:hueOff val="114395"/>
                    <a:lumOff val="-24975"/>
                  </a:schemeClr>
                </a:solidFill>
              </a:defRPr>
            </a:lvl4pPr>
            <a:lvl5pPr marL="0" indent="1828800" algn="ctr">
              <a:lnSpc>
                <a:spcPct val="80000"/>
              </a:lnSpc>
              <a:spcBef>
                <a:spcPts val="0"/>
              </a:spcBef>
              <a:buSzTx/>
              <a:buNone/>
              <a:defRPr b="1" spc="-250" sz="25000">
                <a:solidFill>
                  <a:schemeClr val="accent1">
                    <a:hueOff val="114395"/>
                    <a:lumOff val="-24975"/>
                  </a:schemeClr>
                </a:solidFill>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1pPr>
            <a:lvl2pPr marL="638923" indent="-127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2pPr>
            <a:lvl3pPr marL="638923" indent="4445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3pPr>
            <a:lvl4pPr marL="638923" indent="9017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4pPr>
            <a:lvl5pPr marL="638923" indent="13589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617931575_1991x1322.jpg"/>
          <p:cNvSpPr/>
          <p:nvPr>
            <p:ph type="pic" sz="quarter" idx="21"/>
          </p:nvPr>
        </p:nvSpPr>
        <p:spPr>
          <a:xfrm>
            <a:off x="15436504" y="1270000"/>
            <a:ext cx="8167167" cy="5422900"/>
          </a:xfrm>
          <a:prstGeom prst="rect">
            <a:avLst/>
          </a:prstGeom>
        </p:spPr>
        <p:txBody>
          <a:bodyPr lIns="91439" tIns="45719" rIns="91439" bIns="45719">
            <a:noAutofit/>
          </a:bodyPr>
          <a:lstStyle/>
          <a:p>
            <a:pPr/>
          </a:p>
        </p:txBody>
      </p:sp>
      <p:sp>
        <p:nvSpPr>
          <p:cNvPr id="125" name="740627569_2880x1920.jpg"/>
          <p:cNvSpPr/>
          <p:nvPr>
            <p:ph type="pic" sz="quarter" idx="22"/>
          </p:nvPr>
        </p:nvSpPr>
        <p:spPr>
          <a:xfrm>
            <a:off x="15461772" y="7085972"/>
            <a:ext cx="8148414" cy="5432276"/>
          </a:xfrm>
          <a:prstGeom prst="rect">
            <a:avLst/>
          </a:prstGeom>
        </p:spPr>
        <p:txBody>
          <a:bodyPr lIns="91439" tIns="45719" rIns="91439" bIns="45719">
            <a:noAutofit/>
          </a:bodyPr>
          <a:lstStyle/>
          <a:p>
            <a:pPr/>
          </a:p>
        </p:txBody>
      </p:sp>
      <p:sp>
        <p:nvSpPr>
          <p:cNvPr id="126" name="996267730_2880x1920.jpg"/>
          <p:cNvSpPr/>
          <p:nvPr>
            <p:ph type="pic" idx="23"/>
          </p:nvPr>
        </p:nvSpPr>
        <p:spPr>
          <a:xfrm>
            <a:off x="-124635" y="1270000"/>
            <a:ext cx="16859219" cy="11239479"/>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996267730_2880x1920.jpg"/>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Author and Date"/>
          <p:cNvSpPr txBox="1"/>
          <p:nvPr>
            <p:ph type="body" idx="21"/>
          </p:nvPr>
        </p:nvSpPr>
        <p:spPr>
          <a:prstGeom prst="rect">
            <a:avLst/>
          </a:prstGeom>
        </p:spPr>
        <p:txBody>
          <a:bodyPr/>
          <a:lstStyle/>
          <a:p>
            <a:pPr/>
          </a:p>
        </p:txBody>
      </p:sp>
      <p:sp>
        <p:nvSpPr>
          <p:cNvPr id="152" name="E-Commerce Cloud Project"/>
          <p:cNvSpPr txBox="1"/>
          <p:nvPr>
            <p:ph type="ctrTitle"/>
          </p:nvPr>
        </p:nvSpPr>
        <p:spPr>
          <a:prstGeom prst="rect">
            <a:avLst/>
          </a:prstGeom>
        </p:spPr>
        <p:txBody>
          <a:bodyPr/>
          <a:lstStyle/>
          <a:p>
            <a:pPr/>
            <a:r>
              <a:t>E-Commerce Cloud Project</a:t>
            </a:r>
          </a:p>
        </p:txBody>
      </p:sp>
      <p:sp>
        <p:nvSpPr>
          <p:cNvPr id="153" name="Presentation Subtitle"/>
          <p:cNvSpPr txBox="1"/>
          <p:nvPr>
            <p:ph type="subTitle" sz="quarter"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Problem Being Solved"/>
          <p:cNvSpPr txBox="1"/>
          <p:nvPr>
            <p:ph type="title"/>
          </p:nvPr>
        </p:nvSpPr>
        <p:spPr>
          <a:prstGeom prst="rect">
            <a:avLst/>
          </a:prstGeom>
        </p:spPr>
        <p:txBody>
          <a:bodyPr/>
          <a:lstStyle/>
          <a:p>
            <a:pPr/>
            <a:r>
              <a:t>Problem Being Solved</a:t>
            </a:r>
          </a:p>
        </p:txBody>
      </p:sp>
      <p:sp>
        <p:nvSpPr>
          <p:cNvPr id="156" name="Slide Subtitle"/>
          <p:cNvSpPr txBox="1"/>
          <p:nvPr>
            <p:ph type="body" idx="21"/>
          </p:nvPr>
        </p:nvSpPr>
        <p:spPr>
          <a:prstGeom prst="rect">
            <a:avLst/>
          </a:prstGeom>
        </p:spPr>
        <p:txBody>
          <a:bodyPr/>
          <a:lstStyle/>
          <a:p>
            <a:pPr/>
          </a:p>
        </p:txBody>
      </p:sp>
      <p:sp>
        <p:nvSpPr>
          <p:cNvPr id="157" name="Create a realistic E-Commerce cloud application that can enable selling goods online with an intuitive experience.…"/>
          <p:cNvSpPr txBox="1"/>
          <p:nvPr>
            <p:ph type="body" idx="1"/>
          </p:nvPr>
        </p:nvSpPr>
        <p:spPr>
          <a:prstGeom prst="rect">
            <a:avLst/>
          </a:prstGeom>
        </p:spPr>
        <p:txBody>
          <a:bodyPr/>
          <a:lstStyle/>
          <a:p>
            <a:pPr/>
            <a:r>
              <a:t>Create a realistic E-Commerce cloud application that can enable selling goods online with an intuitive experience.</a:t>
            </a:r>
          </a:p>
          <a:p>
            <a:pPr/>
            <a:r>
              <a:t>Employ Flask on Codio to provide a simple and repeatable environment for developing, debugging, and viewing the application.</a:t>
            </a:r>
          </a:p>
          <a:p>
            <a:pPr/>
            <a:r>
              <a:t>Ensure the application can work on a number of browsers and conditions and the final AWS output is correct in each case.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Methods"/>
          <p:cNvSpPr txBox="1"/>
          <p:nvPr>
            <p:ph type="title"/>
          </p:nvPr>
        </p:nvSpPr>
        <p:spPr>
          <a:prstGeom prst="rect">
            <a:avLst/>
          </a:prstGeom>
        </p:spPr>
        <p:txBody>
          <a:bodyPr/>
          <a:lstStyle/>
          <a:p>
            <a:pPr/>
            <a:r>
              <a:t>Methods</a:t>
            </a:r>
          </a:p>
        </p:txBody>
      </p:sp>
      <p:sp>
        <p:nvSpPr>
          <p:cNvPr id="160" name="Slide Subtitle"/>
          <p:cNvSpPr txBox="1"/>
          <p:nvPr>
            <p:ph type="body" idx="21"/>
          </p:nvPr>
        </p:nvSpPr>
        <p:spPr>
          <a:prstGeom prst="rect">
            <a:avLst/>
          </a:prstGeom>
        </p:spPr>
        <p:txBody>
          <a:bodyPr/>
          <a:lstStyle/>
          <a:p>
            <a:pPr/>
          </a:p>
        </p:txBody>
      </p:sp>
      <p:sp>
        <p:nvSpPr>
          <p:cNvPr id="161" name="Flask was used to host the application which enabled a simple backend to facilitate the site interaction.…"/>
          <p:cNvSpPr txBox="1"/>
          <p:nvPr>
            <p:ph type="body" idx="1"/>
          </p:nvPr>
        </p:nvSpPr>
        <p:spPr>
          <a:prstGeom prst="rect">
            <a:avLst/>
          </a:prstGeom>
        </p:spPr>
        <p:txBody>
          <a:bodyPr/>
          <a:lstStyle/>
          <a:p>
            <a:pPr/>
            <a:r>
              <a:t>Flask was used to host the application which enabled a simple backend to facilitate the site interaction.</a:t>
            </a:r>
          </a:p>
          <a:p>
            <a:pPr/>
            <a:r>
              <a:t>DynamoDB on AWS is used as the final write destination for order placement.</a:t>
            </a:r>
          </a:p>
          <a:p>
            <a:pPr/>
            <a:r>
              <a:t>The app runs on the Codio system which exposes a browser interface for clients to talk to.</a:t>
            </a:r>
          </a:p>
        </p:txBody>
      </p:sp>
      <p:pic>
        <p:nvPicPr>
          <p:cNvPr id="162" name="Image" descr="Image"/>
          <p:cNvPicPr>
            <a:picLocks noChangeAspect="1"/>
          </p:cNvPicPr>
          <p:nvPr/>
        </p:nvPicPr>
        <p:blipFill>
          <a:blip r:embed="rId2">
            <a:extLst/>
          </a:blip>
          <a:stretch>
            <a:fillRect/>
          </a:stretch>
        </p:blipFill>
        <p:spPr>
          <a:xfrm>
            <a:off x="9330617" y="10056497"/>
            <a:ext cx="4158778" cy="2177968"/>
          </a:xfrm>
          <a:prstGeom prst="rect">
            <a:avLst/>
          </a:prstGeom>
          <a:ln w="12700">
            <a:miter lim="400000"/>
          </a:ln>
        </p:spPr>
      </p:pic>
      <p:pic>
        <p:nvPicPr>
          <p:cNvPr id="163" name="Image" descr="Image"/>
          <p:cNvPicPr>
            <a:picLocks noChangeAspect="1"/>
          </p:cNvPicPr>
          <p:nvPr/>
        </p:nvPicPr>
        <p:blipFill>
          <a:blip r:embed="rId3">
            <a:extLst/>
          </a:blip>
          <a:stretch>
            <a:fillRect/>
          </a:stretch>
        </p:blipFill>
        <p:spPr>
          <a:xfrm>
            <a:off x="1411440" y="9337513"/>
            <a:ext cx="3615937" cy="3615937"/>
          </a:xfrm>
          <a:prstGeom prst="rect">
            <a:avLst/>
          </a:prstGeom>
          <a:ln w="12700">
            <a:miter lim="400000"/>
          </a:ln>
        </p:spPr>
      </p:pic>
      <p:pic>
        <p:nvPicPr>
          <p:cNvPr id="164" name="Image" descr="Image"/>
          <p:cNvPicPr>
            <a:picLocks noChangeAspect="1"/>
          </p:cNvPicPr>
          <p:nvPr/>
        </p:nvPicPr>
        <p:blipFill>
          <a:blip r:embed="rId4">
            <a:extLst/>
          </a:blip>
          <a:stretch>
            <a:fillRect/>
          </a:stretch>
        </p:blipFill>
        <p:spPr>
          <a:xfrm>
            <a:off x="16500002" y="9527866"/>
            <a:ext cx="7564589" cy="397141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Features"/>
          <p:cNvSpPr txBox="1"/>
          <p:nvPr>
            <p:ph type="title"/>
          </p:nvPr>
        </p:nvSpPr>
        <p:spPr>
          <a:prstGeom prst="rect">
            <a:avLst/>
          </a:prstGeom>
        </p:spPr>
        <p:txBody>
          <a:bodyPr/>
          <a:lstStyle/>
          <a:p>
            <a:pPr/>
            <a:r>
              <a:t>Features</a:t>
            </a:r>
          </a:p>
        </p:txBody>
      </p:sp>
      <p:sp>
        <p:nvSpPr>
          <p:cNvPr id="167" name="Slide Subtitle"/>
          <p:cNvSpPr txBox="1"/>
          <p:nvPr>
            <p:ph type="body" idx="21"/>
          </p:nvPr>
        </p:nvSpPr>
        <p:spPr>
          <a:prstGeom prst="rect">
            <a:avLst/>
          </a:prstGeom>
        </p:spPr>
        <p:txBody>
          <a:bodyPr/>
          <a:lstStyle/>
          <a:p>
            <a:pPr/>
          </a:p>
        </p:txBody>
      </p:sp>
      <p:sp>
        <p:nvSpPr>
          <p:cNvPr id="168" name="The site features a user registration and login page with input validation and error messages.…"/>
          <p:cNvSpPr txBox="1"/>
          <p:nvPr>
            <p:ph type="body" idx="1"/>
          </p:nvPr>
        </p:nvSpPr>
        <p:spPr>
          <a:prstGeom prst="rect">
            <a:avLst/>
          </a:prstGeom>
        </p:spPr>
        <p:txBody>
          <a:bodyPr/>
          <a:lstStyle/>
          <a:p>
            <a:pPr/>
            <a:r>
              <a:t>The site features a user registration and login page with input validation and error messages.</a:t>
            </a:r>
          </a:p>
          <a:p>
            <a:pPr/>
            <a:r>
              <a:t>After signing in users are able to place items into a cart from an inventory selection.</a:t>
            </a:r>
          </a:p>
          <a:p>
            <a:pPr/>
            <a:r>
              <a:t>They can then view the contents of their cart along with item information and send the order where it could be processed.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Challenges"/>
          <p:cNvSpPr txBox="1"/>
          <p:nvPr>
            <p:ph type="title"/>
          </p:nvPr>
        </p:nvSpPr>
        <p:spPr>
          <a:prstGeom prst="rect">
            <a:avLst/>
          </a:prstGeom>
        </p:spPr>
        <p:txBody>
          <a:bodyPr/>
          <a:lstStyle/>
          <a:p>
            <a:pPr/>
            <a:r>
              <a:t>Challenges</a:t>
            </a:r>
          </a:p>
        </p:txBody>
      </p:sp>
      <p:sp>
        <p:nvSpPr>
          <p:cNvPr id="171" name="Slide Subtitle"/>
          <p:cNvSpPr txBox="1"/>
          <p:nvPr>
            <p:ph type="body" idx="21"/>
          </p:nvPr>
        </p:nvSpPr>
        <p:spPr>
          <a:prstGeom prst="rect">
            <a:avLst/>
          </a:prstGeom>
        </p:spPr>
        <p:txBody>
          <a:bodyPr/>
          <a:lstStyle/>
          <a:p>
            <a:pPr/>
          </a:p>
        </p:txBody>
      </p:sp>
      <p:sp>
        <p:nvSpPr>
          <p:cNvPr id="172" name="Jinja enables Python data from Flask to be dynamically queried and embedded in the HTML. This is a powerful feature but requires a careful reading of the documentation on the syntax.…"/>
          <p:cNvSpPr txBox="1"/>
          <p:nvPr>
            <p:ph type="body" idx="1"/>
          </p:nvPr>
        </p:nvSpPr>
        <p:spPr>
          <a:prstGeom prst="rect">
            <a:avLst/>
          </a:prstGeom>
        </p:spPr>
        <p:txBody>
          <a:bodyPr/>
          <a:lstStyle/>
          <a:p>
            <a:pPr/>
            <a:r>
              <a:t>Jinja enables Python data from Flask to be dynamically queried and embedded in the HTML. This is a powerful feature but requires a careful reading of the documentation on the syntax.</a:t>
            </a:r>
          </a:p>
          <a:p>
            <a:pPr/>
            <a:r>
              <a:t>Unit testing enables ongoing verification of methods through the API interface, but the code should be refactored as much as possible so the critical logic in the browser code path is verified as well through these tests.</a:t>
            </a:r>
          </a:p>
          <a:p>
            <a:pPr/>
            <a:r>
              <a:t>During partial feature development it is tempting to want to use Curl from the terminal then test only the implemented browser features. However, similar to someone opening multiple page,s the cookies aren’t shared alternatives were pursued.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Architecture Summary"/>
          <p:cNvSpPr txBox="1"/>
          <p:nvPr>
            <p:ph type="title"/>
          </p:nvPr>
        </p:nvSpPr>
        <p:spPr>
          <a:prstGeom prst="rect">
            <a:avLst/>
          </a:prstGeom>
        </p:spPr>
        <p:txBody>
          <a:bodyPr/>
          <a:lstStyle/>
          <a:p>
            <a:pPr/>
            <a:r>
              <a:t>Architecture Summary</a:t>
            </a:r>
          </a:p>
        </p:txBody>
      </p:sp>
      <p:sp>
        <p:nvSpPr>
          <p:cNvPr id="175" name="Slide Subtitle"/>
          <p:cNvSpPr txBox="1"/>
          <p:nvPr>
            <p:ph type="body" idx="21"/>
          </p:nvPr>
        </p:nvSpPr>
        <p:spPr>
          <a:prstGeom prst="rect">
            <a:avLst/>
          </a:prstGeom>
        </p:spPr>
        <p:txBody>
          <a:bodyPr/>
          <a:lstStyle/>
          <a:p>
            <a:pPr/>
          </a:p>
        </p:txBody>
      </p:sp>
      <p:sp>
        <p:nvSpPr>
          <p:cNvPr id="176" name="Flask is run as part of Codio’s hosted linux environment.…"/>
          <p:cNvSpPr txBox="1"/>
          <p:nvPr>
            <p:ph type="body" idx="1"/>
          </p:nvPr>
        </p:nvSpPr>
        <p:spPr>
          <a:prstGeom prst="rect">
            <a:avLst/>
          </a:prstGeom>
        </p:spPr>
        <p:txBody>
          <a:bodyPr/>
          <a:lstStyle/>
          <a:p>
            <a:pPr/>
            <a:r>
              <a:t>Flask is run as part of Codio’s hosted linux environment.</a:t>
            </a:r>
          </a:p>
          <a:p>
            <a:pPr/>
            <a:r>
              <a:t>The Client’s browser can then access the page generated by this and send requests and responses back to the Flask server.</a:t>
            </a:r>
          </a:p>
          <a:p>
            <a:pPr/>
            <a:r>
              <a:t>The AWS DynamoDB service is used to write to by the Flask application after the order has been gathered and is ready to be placed.</a:t>
            </a:r>
          </a:p>
        </p:txBody>
      </p:sp>
      <p:sp>
        <p:nvSpPr>
          <p:cNvPr id="177" name="Client Browser"/>
          <p:cNvSpPr/>
          <p:nvPr/>
        </p:nvSpPr>
        <p:spPr>
          <a:xfrm>
            <a:off x="4827110" y="9233140"/>
            <a:ext cx="3696331" cy="1951654"/>
          </a:xfrm>
          <a:prstGeom prst="rect">
            <a:avLst/>
          </a:prstGeom>
          <a:solidFill>
            <a:srgbClr val="00A1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latin typeface="Helvetica Neue Medium"/>
                <a:ea typeface="Helvetica Neue Medium"/>
                <a:cs typeface="Helvetica Neue Medium"/>
                <a:sym typeface="Helvetica Neue Medium"/>
              </a:defRPr>
            </a:lvl1pPr>
          </a:lstStyle>
          <a:p>
            <a:pPr/>
            <a:r>
              <a:t>Client Browser</a:t>
            </a:r>
          </a:p>
        </p:txBody>
      </p:sp>
      <p:sp>
        <p:nvSpPr>
          <p:cNvPr id="178" name="Codio Running Flask"/>
          <p:cNvSpPr/>
          <p:nvPr/>
        </p:nvSpPr>
        <p:spPr>
          <a:xfrm>
            <a:off x="9752341" y="10887704"/>
            <a:ext cx="3546744" cy="2102258"/>
          </a:xfrm>
          <a:prstGeom prst="rect">
            <a:avLst/>
          </a:prstGeom>
          <a:solidFill>
            <a:srgbClr val="00A1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latin typeface="Helvetica Neue Medium"/>
                <a:ea typeface="Helvetica Neue Medium"/>
                <a:cs typeface="Helvetica Neue Medium"/>
                <a:sym typeface="Helvetica Neue Medium"/>
              </a:defRPr>
            </a:lvl1pPr>
          </a:lstStyle>
          <a:p>
            <a:pPr/>
            <a:r>
              <a:t>Codio Running Flask</a:t>
            </a:r>
          </a:p>
        </p:txBody>
      </p:sp>
      <p:sp>
        <p:nvSpPr>
          <p:cNvPr id="179" name="AWS Server Hosting Dynamo"/>
          <p:cNvSpPr/>
          <p:nvPr/>
        </p:nvSpPr>
        <p:spPr>
          <a:xfrm>
            <a:off x="14527985" y="9157838"/>
            <a:ext cx="3546745" cy="2102258"/>
          </a:xfrm>
          <a:prstGeom prst="rect">
            <a:avLst/>
          </a:prstGeom>
          <a:solidFill>
            <a:srgbClr val="00A1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defTabSz="825500">
              <a:defRPr sz="3200">
                <a:solidFill>
                  <a:srgbClr val="000000"/>
                </a:solidFill>
                <a:latin typeface="Helvetica Neue Medium"/>
                <a:ea typeface="Helvetica Neue Medium"/>
                <a:cs typeface="Helvetica Neue Medium"/>
                <a:sym typeface="Helvetica Neue Medium"/>
              </a:defRPr>
            </a:lvl1pPr>
          </a:lstStyle>
          <a:p>
            <a:pPr/>
            <a:r>
              <a:t>AWS Server Hosting Dynamo</a:t>
            </a:r>
          </a:p>
        </p:txBody>
      </p:sp>
      <p:sp>
        <p:nvSpPr>
          <p:cNvPr id="180" name="Line"/>
          <p:cNvSpPr/>
          <p:nvPr/>
        </p:nvSpPr>
        <p:spPr>
          <a:xfrm>
            <a:off x="8525534" y="10007118"/>
            <a:ext cx="1228931" cy="1228931"/>
          </a:xfrm>
          <a:prstGeom prst="line">
            <a:avLst/>
          </a:prstGeom>
          <a:ln w="25400">
            <a:solidFill>
              <a:srgbClr val="000000"/>
            </a:solidFill>
            <a:miter lim="400000"/>
            <a:tailEnd type="triangle"/>
          </a:ln>
        </p:spPr>
        <p:txBody>
          <a:bodyPr lIns="50800" tIns="50800" rIns="50800" bIns="50800" anchor="ctr"/>
          <a:lstStyle/>
          <a:p>
            <a:pPr/>
          </a:p>
        </p:txBody>
      </p:sp>
      <p:sp>
        <p:nvSpPr>
          <p:cNvPr id="181" name="Line"/>
          <p:cNvSpPr/>
          <p:nvPr/>
        </p:nvSpPr>
        <p:spPr>
          <a:xfrm flipH="1" flipV="1">
            <a:off x="8191583" y="11184482"/>
            <a:ext cx="1499723" cy="1499722"/>
          </a:xfrm>
          <a:prstGeom prst="line">
            <a:avLst/>
          </a:prstGeom>
          <a:ln w="25400">
            <a:solidFill>
              <a:srgbClr val="000000"/>
            </a:solidFill>
            <a:miter lim="400000"/>
            <a:tailEnd type="triangle"/>
          </a:ln>
        </p:spPr>
        <p:txBody>
          <a:bodyPr lIns="50800" tIns="50800" rIns="50800" bIns="50800" anchor="ctr"/>
          <a:lstStyle/>
          <a:p>
            <a:pPr/>
          </a:p>
        </p:txBody>
      </p:sp>
      <p:sp>
        <p:nvSpPr>
          <p:cNvPr id="182" name="Line"/>
          <p:cNvSpPr/>
          <p:nvPr/>
        </p:nvSpPr>
        <p:spPr>
          <a:xfrm flipV="1">
            <a:off x="13290104" y="10026268"/>
            <a:ext cx="1256646" cy="1173554"/>
          </a:xfrm>
          <a:prstGeom prst="line">
            <a:avLst/>
          </a:prstGeom>
          <a:ln w="25400">
            <a:solidFill>
              <a:srgbClr val="000000"/>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0_BasicColor">
  <a:themeElements>
    <a:clrScheme name="30_BasicColor">
      <a:dk1>
        <a:srgbClr val="5E5E5E"/>
      </a:dk1>
      <a:lt1>
        <a:srgbClr val="003462"/>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0_BasicColor">
  <a:themeElements>
    <a:clrScheme name="30_Bas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